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9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8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5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6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5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2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5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9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1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4563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18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028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9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62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D4835-6987-4250-91CC-38C526D874E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B8F913B-7BC7-446A-BDC4-C4780D69F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2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860403" cy="1938889"/>
          </a:xfrm>
        </p:spPr>
        <p:txBody>
          <a:bodyPr>
            <a:normAutofit/>
          </a:bodyPr>
          <a:lstStyle/>
          <a:p>
            <a:r>
              <a:rPr lang="en-US" sz="5400" dirty="0" smtClean="0"/>
              <a:t>PROFESSIONAL PRACTICES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framework of employee relations law and changing management </a:t>
            </a:r>
            <a:r>
              <a:rPr lang="en-US" sz="2800" dirty="0" err="1" smtClean="0"/>
              <a:t>paractices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295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Introduction</a:t>
            </a:r>
          </a:p>
          <a:p>
            <a:r>
              <a:rPr lang="en-US" dirty="0" smtClean="0"/>
              <a:t>Employee relations law = legal rules governing employer-employee relationships </a:t>
            </a:r>
          </a:p>
          <a:p>
            <a:r>
              <a:rPr lang="en-US" dirty="0" smtClean="0"/>
              <a:t>Focus on </a:t>
            </a:r>
            <a:r>
              <a:rPr lang="en-US" b="1" dirty="0" smtClean="0"/>
              <a:t>fairness, equality, and protection of rights</a:t>
            </a:r>
            <a:r>
              <a:rPr lang="en-US" dirty="0" smtClean="0"/>
              <a:t> </a:t>
            </a:r>
          </a:p>
          <a:p>
            <a:r>
              <a:rPr lang="en-US" dirty="0" smtClean="0"/>
              <a:t>Modern management practices influenced by: </a:t>
            </a:r>
          </a:p>
          <a:p>
            <a:pPr lvl="1"/>
            <a:r>
              <a:rPr lang="en-US" dirty="0" smtClean="0"/>
              <a:t>Globalization </a:t>
            </a:r>
          </a:p>
          <a:p>
            <a:pPr lvl="1"/>
            <a:r>
              <a:rPr lang="en-US" dirty="0" smtClean="0"/>
              <a:t>Technology </a:t>
            </a:r>
          </a:p>
          <a:p>
            <a:pPr lvl="1"/>
            <a:r>
              <a:rPr lang="en-US" dirty="0" smtClean="0"/>
              <a:t>Organizational culture </a:t>
            </a:r>
          </a:p>
          <a:p>
            <a:r>
              <a:rPr lang="en-US" dirty="0" smtClean="0"/>
              <a:t>Strong employee relations → better productivity and workplace harmony </a:t>
            </a:r>
          </a:p>
          <a:p>
            <a:r>
              <a:rPr lang="en-US" dirty="0" smtClean="0"/>
              <a:t>Real-life example: Multinational companies like </a:t>
            </a:r>
            <a:r>
              <a:rPr lang="en-US" b="1" dirty="0" smtClean="0"/>
              <a:t>TCS or Microsoft</a:t>
            </a:r>
            <a:r>
              <a:rPr lang="en-US" dirty="0" smtClean="0"/>
              <a:t> follow labor laws strictly and implement modern HR practices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4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Importance of Employee Relations Law</a:t>
            </a:r>
          </a:p>
          <a:p>
            <a:r>
              <a:rPr lang="en-US" dirty="0" smtClean="0"/>
              <a:t>Ensures </a:t>
            </a:r>
            <a:r>
              <a:rPr lang="en-US" b="1" dirty="0" smtClean="0"/>
              <a:t>legal compliance</a:t>
            </a:r>
            <a:r>
              <a:rPr lang="en-US" dirty="0" smtClean="0"/>
              <a:t> in hiring, termination, and working conditions </a:t>
            </a:r>
          </a:p>
          <a:p>
            <a:r>
              <a:rPr lang="en-US" dirty="0" smtClean="0"/>
              <a:t>Protects employees from exploitation </a:t>
            </a:r>
          </a:p>
          <a:p>
            <a:r>
              <a:rPr lang="en-US" dirty="0" smtClean="0"/>
              <a:t>Helps in </a:t>
            </a:r>
            <a:r>
              <a:rPr lang="en-US" b="1" dirty="0" smtClean="0"/>
              <a:t>preventing industrial disputes</a:t>
            </a:r>
            <a:r>
              <a:rPr lang="en-US" dirty="0" smtClean="0"/>
              <a:t> </a:t>
            </a:r>
          </a:p>
          <a:p>
            <a:r>
              <a:rPr lang="en-US" dirty="0" smtClean="0"/>
              <a:t>Improves </a:t>
            </a:r>
            <a:r>
              <a:rPr lang="en-US" b="1" dirty="0" smtClean="0"/>
              <a:t>trust between employer and employee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Example: Labor law violation in factories often leads to strikes and court cases → shows importance of compliance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2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Objectives of Employee Relations Law</a:t>
            </a:r>
          </a:p>
          <a:p>
            <a:r>
              <a:rPr lang="en-US" dirty="0" smtClean="0"/>
              <a:t>Protect rights of employees and ensure fair treatment </a:t>
            </a:r>
          </a:p>
          <a:p>
            <a:r>
              <a:rPr lang="en-US" dirty="0" smtClean="0"/>
              <a:t>Prevent </a:t>
            </a:r>
            <a:r>
              <a:rPr lang="en-US" b="1" dirty="0" smtClean="0"/>
              <a:t>workplace discrimination and harassment</a:t>
            </a:r>
            <a:r>
              <a:rPr lang="en-US" dirty="0" smtClean="0"/>
              <a:t> </a:t>
            </a:r>
          </a:p>
          <a:p>
            <a:r>
              <a:rPr lang="en-US" dirty="0" smtClean="0"/>
              <a:t>Ensure fair wages, working hours, and benefits </a:t>
            </a:r>
          </a:p>
          <a:p>
            <a:r>
              <a:rPr lang="en-US" dirty="0" smtClean="0"/>
              <a:t>Resolve disputes </a:t>
            </a:r>
            <a:r>
              <a:rPr lang="en-US" b="1" dirty="0" smtClean="0"/>
              <a:t>effectively and legally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Promote a </a:t>
            </a:r>
            <a:r>
              <a:rPr lang="en-US" b="1" dirty="0" smtClean="0"/>
              <a:t>positive organizational culture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Example: Minimum wage laws prevent underpayment in small businesses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8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Key Components of Employee Relations Law</a:t>
            </a:r>
          </a:p>
          <a:p>
            <a:r>
              <a:rPr lang="en-US" b="1" dirty="0" smtClean="0"/>
              <a:t>Employment Contracts</a:t>
            </a:r>
            <a:r>
              <a:rPr lang="en-US" dirty="0" smtClean="0"/>
              <a:t> – Define rights, duties, salary, and termination policies </a:t>
            </a:r>
          </a:p>
          <a:p>
            <a:r>
              <a:rPr lang="en-US" b="1" dirty="0" smtClean="0"/>
              <a:t>Labor Rights</a:t>
            </a:r>
            <a:r>
              <a:rPr lang="en-US" dirty="0" smtClean="0"/>
              <a:t> – Minimum wage, overtime, working hours </a:t>
            </a:r>
          </a:p>
          <a:p>
            <a:r>
              <a:rPr lang="en-US" b="1" dirty="0" smtClean="0"/>
              <a:t>Health &amp; Safety Regulations</a:t>
            </a:r>
            <a:r>
              <a:rPr lang="en-US" dirty="0" smtClean="0"/>
              <a:t> – Safe working environment, equipment, risk assessment </a:t>
            </a:r>
          </a:p>
          <a:p>
            <a:r>
              <a:rPr lang="en-US" b="1" dirty="0" smtClean="0"/>
              <a:t>Anti-Discrimination Laws</a:t>
            </a:r>
            <a:r>
              <a:rPr lang="en-US" dirty="0" smtClean="0"/>
              <a:t> – Equal opportunity, inclusive workplace </a:t>
            </a:r>
          </a:p>
          <a:p>
            <a:r>
              <a:rPr lang="en-US" b="1" dirty="0" smtClean="0"/>
              <a:t>Trade Union Rights</a:t>
            </a:r>
            <a:r>
              <a:rPr lang="en-US" dirty="0" smtClean="0"/>
              <a:t> – Form unions, collective bargaining, dispute resolution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86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Employment Contracts</a:t>
            </a:r>
          </a:p>
          <a:p>
            <a:r>
              <a:rPr lang="en-US" dirty="0" smtClean="0"/>
              <a:t>Legal agreements between employer and employee </a:t>
            </a:r>
          </a:p>
          <a:p>
            <a:r>
              <a:rPr lang="en-US" dirty="0" smtClean="0"/>
              <a:t>Contains: </a:t>
            </a:r>
          </a:p>
          <a:p>
            <a:pPr lvl="1"/>
            <a:r>
              <a:rPr lang="en-US" dirty="0" smtClean="0"/>
              <a:t>Job role &amp; description </a:t>
            </a:r>
          </a:p>
          <a:p>
            <a:pPr lvl="1"/>
            <a:r>
              <a:rPr lang="en-US" dirty="0" smtClean="0"/>
              <a:t>Salary and incentives </a:t>
            </a:r>
          </a:p>
          <a:p>
            <a:pPr lvl="1"/>
            <a:r>
              <a:rPr lang="en-US" dirty="0" smtClean="0"/>
              <a:t>Working hours and leave policies </a:t>
            </a:r>
          </a:p>
          <a:p>
            <a:pPr lvl="1"/>
            <a:r>
              <a:rPr lang="en-US" dirty="0" smtClean="0"/>
              <a:t>Terms of probation and termination </a:t>
            </a:r>
          </a:p>
          <a:p>
            <a:r>
              <a:rPr lang="en-US" dirty="0" smtClean="0"/>
              <a:t>Types: </a:t>
            </a:r>
          </a:p>
          <a:p>
            <a:pPr lvl="1"/>
            <a:r>
              <a:rPr lang="en-US" dirty="0" smtClean="0"/>
              <a:t>Permanent </a:t>
            </a:r>
          </a:p>
          <a:p>
            <a:pPr lvl="1"/>
            <a:r>
              <a:rPr lang="en-US" dirty="0" smtClean="0"/>
              <a:t>Temporary </a:t>
            </a:r>
          </a:p>
          <a:p>
            <a:pPr lvl="1"/>
            <a:r>
              <a:rPr lang="en-US" dirty="0" smtClean="0"/>
              <a:t>Contract-based / Freelance </a:t>
            </a:r>
          </a:p>
          <a:p>
            <a:r>
              <a:rPr lang="en-US" dirty="0" smtClean="0"/>
              <a:t>Example: Software engineer hired on a 1-year contract with probation period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9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Labor Laws (General Overview)</a:t>
            </a:r>
          </a:p>
          <a:p>
            <a:r>
              <a:rPr lang="en-US" b="1" dirty="0" smtClean="0"/>
              <a:t>Minimum wage</a:t>
            </a:r>
            <a:r>
              <a:rPr lang="en-US" dirty="0" smtClean="0"/>
              <a:t> laws ensure fair pay </a:t>
            </a:r>
          </a:p>
          <a:p>
            <a:r>
              <a:rPr lang="en-US" b="1" dirty="0" smtClean="0"/>
              <a:t>Working hours</a:t>
            </a:r>
            <a:r>
              <a:rPr lang="en-US" dirty="0" smtClean="0"/>
              <a:t>: Max 8 hours/day, 40-48 hours/week </a:t>
            </a:r>
          </a:p>
          <a:p>
            <a:r>
              <a:rPr lang="en-US" b="1" dirty="0" smtClean="0"/>
              <a:t>Overtime</a:t>
            </a:r>
            <a:r>
              <a:rPr lang="en-US" dirty="0" smtClean="0"/>
              <a:t>: Paid extra for hours beyond limit </a:t>
            </a:r>
          </a:p>
          <a:p>
            <a:r>
              <a:rPr lang="en-US" b="1" dirty="0" smtClean="0"/>
              <a:t>Child labor laws</a:t>
            </a:r>
            <a:r>
              <a:rPr lang="en-US" dirty="0" smtClean="0"/>
              <a:t>: Children &lt;14 years cannot work </a:t>
            </a:r>
          </a:p>
          <a:p>
            <a:r>
              <a:rPr lang="en-US" b="1" dirty="0" smtClean="0"/>
              <a:t>Leave policies</a:t>
            </a:r>
            <a:r>
              <a:rPr lang="en-US" dirty="0" smtClean="0"/>
              <a:t>: Sick leave, annual leave, maternity/paternity leave </a:t>
            </a:r>
          </a:p>
          <a:p>
            <a:r>
              <a:rPr lang="en-US" dirty="0" smtClean="0"/>
              <a:t>Real-life: In Pakistan, factories follow </a:t>
            </a:r>
            <a:r>
              <a:rPr lang="en-US" b="1" dirty="0" smtClean="0"/>
              <a:t>Factories Act 1934</a:t>
            </a:r>
            <a:r>
              <a:rPr lang="en-US" dirty="0" smtClean="0"/>
              <a:t> for working conditions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84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4353"/>
            <a:ext cx="10515600" cy="1325563"/>
          </a:xfrm>
        </p:spPr>
        <p:txBody>
          <a:bodyPr/>
          <a:lstStyle/>
          <a:p>
            <a:r>
              <a:rPr lang="en-US" dirty="0" smtClean="0"/>
              <a:t>Labor Laws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853020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036336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815039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7286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Law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290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Minimum wage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Fair 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Factory laborers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55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Working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Max 8 hours/day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Offices &amp; factories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13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Overtime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Extra pay for extra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Call centers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15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Child labor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Prohibit underage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Schools &amp; factories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135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Leave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Sick, annual, maternity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organization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81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53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Health and Safety Regulations</a:t>
            </a:r>
          </a:p>
          <a:p>
            <a:r>
              <a:rPr lang="en-US" dirty="0" smtClean="0"/>
              <a:t>Employers must provide </a:t>
            </a:r>
            <a:r>
              <a:rPr lang="en-US" b="1" dirty="0" smtClean="0"/>
              <a:t>safe working environment</a:t>
            </a:r>
            <a:r>
              <a:rPr lang="en-US" dirty="0" smtClean="0"/>
              <a:t> </a:t>
            </a:r>
          </a:p>
          <a:p>
            <a:r>
              <a:rPr lang="en-US" dirty="0" smtClean="0"/>
              <a:t>Risk assessments and safety audits mandatory </a:t>
            </a:r>
          </a:p>
          <a:p>
            <a:r>
              <a:rPr lang="en-US" dirty="0" smtClean="0"/>
              <a:t>Provide </a:t>
            </a:r>
            <a:r>
              <a:rPr lang="en-US" b="1" dirty="0" smtClean="0"/>
              <a:t>safety equipment and training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Example: Construction companies provide helmets, safety shoes, and first-aid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326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Anti-Discrimination Laws</a:t>
            </a:r>
          </a:p>
          <a:p>
            <a:r>
              <a:rPr lang="en-US" dirty="0" smtClean="0"/>
              <a:t>Equal treatment regardless of: </a:t>
            </a:r>
          </a:p>
          <a:p>
            <a:pPr lvl="1"/>
            <a:r>
              <a:rPr lang="en-US" dirty="0" smtClean="0"/>
              <a:t>Gender </a:t>
            </a:r>
          </a:p>
          <a:p>
            <a:pPr lvl="1"/>
            <a:r>
              <a:rPr lang="en-US" dirty="0" smtClean="0"/>
              <a:t>Religion </a:t>
            </a:r>
          </a:p>
          <a:p>
            <a:pPr lvl="1"/>
            <a:r>
              <a:rPr lang="en-US" dirty="0" smtClean="0"/>
              <a:t>Race/ethnicity </a:t>
            </a:r>
          </a:p>
          <a:p>
            <a:pPr lvl="1"/>
            <a:r>
              <a:rPr lang="en-US" dirty="0" smtClean="0"/>
              <a:t>Disability </a:t>
            </a:r>
          </a:p>
          <a:p>
            <a:r>
              <a:rPr lang="en-US" dirty="0" smtClean="0"/>
              <a:t>Promotes </a:t>
            </a:r>
            <a:r>
              <a:rPr lang="en-US" b="1" dirty="0" smtClean="0"/>
              <a:t>diversity and inclusion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Example: Companies like </a:t>
            </a:r>
            <a:r>
              <a:rPr lang="en-US" b="1" dirty="0" smtClean="0"/>
              <a:t>Google</a:t>
            </a:r>
            <a:r>
              <a:rPr lang="en-US" dirty="0" smtClean="0"/>
              <a:t> have policies against discrimination and promote workplace inclusion programs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346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Trade Unions &amp; Collective Bargaining</a:t>
            </a:r>
          </a:p>
          <a:p>
            <a:r>
              <a:rPr lang="en-US" dirty="0" smtClean="0"/>
              <a:t>Employees can </a:t>
            </a:r>
            <a:r>
              <a:rPr lang="en-US" b="1" dirty="0" smtClean="0"/>
              <a:t>form unions</a:t>
            </a:r>
            <a:r>
              <a:rPr lang="en-US" dirty="0" smtClean="0"/>
              <a:t> to protect interests </a:t>
            </a:r>
          </a:p>
          <a:p>
            <a:r>
              <a:rPr lang="en-US" dirty="0" smtClean="0"/>
              <a:t>Collective bargaining covers: </a:t>
            </a:r>
          </a:p>
          <a:p>
            <a:pPr lvl="1"/>
            <a:r>
              <a:rPr lang="en-US" dirty="0" smtClean="0"/>
              <a:t>Wages </a:t>
            </a:r>
          </a:p>
          <a:p>
            <a:pPr lvl="1"/>
            <a:r>
              <a:rPr lang="en-US" dirty="0" smtClean="0"/>
              <a:t>Benefits </a:t>
            </a:r>
          </a:p>
          <a:p>
            <a:pPr lvl="1"/>
            <a:r>
              <a:rPr lang="en-US" dirty="0" smtClean="0"/>
              <a:t>Working conditions </a:t>
            </a:r>
          </a:p>
          <a:p>
            <a:r>
              <a:rPr lang="en-US" dirty="0" smtClean="0"/>
              <a:t>Helps </a:t>
            </a:r>
            <a:r>
              <a:rPr lang="en-US" b="1" dirty="0" smtClean="0"/>
              <a:t>balance power</a:t>
            </a:r>
            <a:r>
              <a:rPr lang="en-US" dirty="0" smtClean="0"/>
              <a:t> between employees and management </a:t>
            </a:r>
          </a:p>
          <a:p>
            <a:r>
              <a:rPr lang="en-US" dirty="0" smtClean="0"/>
              <a:t>Real-life example: Union negotiations in </a:t>
            </a:r>
            <a:r>
              <a:rPr lang="en-US" b="1" dirty="0" smtClean="0"/>
              <a:t>auto manufacturing plants</a:t>
            </a:r>
            <a:r>
              <a:rPr lang="en-US" dirty="0" smtClean="0"/>
              <a:t> in Karachi for better wages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1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Dispute Resolution Mechanisms</a:t>
            </a:r>
          </a:p>
          <a:p>
            <a:r>
              <a:rPr lang="en-US" dirty="0" smtClean="0"/>
              <a:t>Internal grievance procedures </a:t>
            </a:r>
          </a:p>
          <a:p>
            <a:r>
              <a:rPr lang="en-US" dirty="0" smtClean="0"/>
              <a:t>Mediation: Neutral party helps resolve conflicts </a:t>
            </a:r>
          </a:p>
          <a:p>
            <a:r>
              <a:rPr lang="en-US" dirty="0" smtClean="0"/>
              <a:t>Arbitration: Third-party decision is </a:t>
            </a:r>
            <a:r>
              <a:rPr lang="en-US" b="1" dirty="0" smtClean="0"/>
              <a:t>binding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Labor courts / tribunals: For legal disputes </a:t>
            </a:r>
          </a:p>
          <a:p>
            <a:r>
              <a:rPr lang="en-US" dirty="0" smtClean="0"/>
              <a:t>Example: Factory workers dispute resolved via </a:t>
            </a:r>
            <a:r>
              <a:rPr lang="en-US" b="1" dirty="0" smtClean="0"/>
              <a:t>conciliation board</a:t>
            </a:r>
            <a:r>
              <a:rPr lang="en-US" dirty="0" smtClean="0"/>
              <a:t> → avoids strike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160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Role of Government in Employee Relations</a:t>
            </a:r>
          </a:p>
          <a:p>
            <a:r>
              <a:rPr lang="en-US" dirty="0" smtClean="0"/>
              <a:t>Enforces labor laws and compliance </a:t>
            </a:r>
          </a:p>
          <a:p>
            <a:r>
              <a:rPr lang="en-US" dirty="0" smtClean="0"/>
              <a:t>Provides legal framework for employer-employee relations </a:t>
            </a:r>
          </a:p>
          <a:p>
            <a:r>
              <a:rPr lang="en-US" dirty="0" smtClean="0"/>
              <a:t>Monitors workplace practices </a:t>
            </a:r>
          </a:p>
          <a:p>
            <a:r>
              <a:rPr lang="en-US" dirty="0" smtClean="0"/>
              <a:t>Protects worker rights (minimum wage, overtime, health &amp; safety) </a:t>
            </a:r>
          </a:p>
          <a:p>
            <a:r>
              <a:rPr lang="en-US" dirty="0" smtClean="0"/>
              <a:t>Example: </a:t>
            </a:r>
            <a:r>
              <a:rPr lang="en-US" b="1" dirty="0" smtClean="0"/>
              <a:t>Ministry of Labor Pakistan</a:t>
            </a:r>
            <a:r>
              <a:rPr lang="en-US" dirty="0" smtClean="0"/>
              <a:t> monitors industrial compliance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645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Changing Management Practices</a:t>
            </a:r>
          </a:p>
          <a:p>
            <a:r>
              <a:rPr lang="en-US" dirty="0" smtClean="0"/>
              <a:t>Traditional management → </a:t>
            </a:r>
            <a:r>
              <a:rPr lang="en-US" b="1" dirty="0" smtClean="0"/>
              <a:t>top-down control</a:t>
            </a:r>
            <a:r>
              <a:rPr lang="en-US" dirty="0" smtClean="0"/>
              <a:t> </a:t>
            </a:r>
          </a:p>
          <a:p>
            <a:r>
              <a:rPr lang="en-US" dirty="0" smtClean="0"/>
              <a:t>Modern management → </a:t>
            </a:r>
            <a:r>
              <a:rPr lang="en-US" b="1" dirty="0" smtClean="0"/>
              <a:t>employee engagement &amp; empowerment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Influenced by: </a:t>
            </a:r>
          </a:p>
          <a:p>
            <a:pPr lvl="1"/>
            <a:r>
              <a:rPr lang="en-US" dirty="0" smtClean="0"/>
              <a:t>Globalization </a:t>
            </a:r>
          </a:p>
          <a:p>
            <a:pPr lvl="1"/>
            <a:r>
              <a:rPr lang="en-US" dirty="0" smtClean="0"/>
              <a:t>Technology and automation </a:t>
            </a:r>
          </a:p>
          <a:p>
            <a:pPr lvl="1"/>
            <a:r>
              <a:rPr lang="en-US" dirty="0" smtClean="0"/>
              <a:t>Changing workforce expectations </a:t>
            </a:r>
          </a:p>
          <a:p>
            <a:r>
              <a:rPr lang="en-US" dirty="0" smtClean="0"/>
              <a:t>Example: Remote work adoption after COVID-19 → modern HR practices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129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8934"/>
              </p:ext>
            </p:extLst>
          </p:nvPr>
        </p:nvGraphicFramePr>
        <p:xfrm>
          <a:off x="838200" y="2904014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03645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3385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98623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Traditional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Modern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136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Decision-making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Top-down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Collaborative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48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Employee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Encouraged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893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Flexible/Remote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716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Supervision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Incentives &amp; 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62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Factory supervisor controls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company encourages team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35738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96397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vs Modern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789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Impact of Technology</a:t>
            </a:r>
          </a:p>
          <a:p>
            <a:r>
              <a:rPr lang="en-US" dirty="0" smtClean="0"/>
              <a:t>HR automation systems → payroll, leave, recruitment </a:t>
            </a:r>
          </a:p>
          <a:p>
            <a:r>
              <a:rPr lang="en-US" dirty="0" smtClean="0"/>
              <a:t>Remote work tools → Zoom, Slack </a:t>
            </a:r>
          </a:p>
          <a:p>
            <a:r>
              <a:rPr lang="en-US" dirty="0" smtClean="0"/>
              <a:t>AI in recruitment → filters candidates efficiently </a:t>
            </a:r>
          </a:p>
          <a:p>
            <a:r>
              <a:rPr lang="en-US" dirty="0" smtClean="0"/>
              <a:t>Monitoring systems → track employee performance </a:t>
            </a:r>
          </a:p>
          <a:p>
            <a:r>
              <a:rPr lang="en-US" dirty="0" smtClean="0"/>
              <a:t>Example: </a:t>
            </a:r>
            <a:r>
              <a:rPr lang="en-US" b="1" dirty="0" smtClean="0"/>
              <a:t>HRMS software in large companies</a:t>
            </a:r>
            <a:r>
              <a:rPr lang="en-US" dirty="0" smtClean="0"/>
              <a:t> reduces paperwork and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354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Globalization and Workforce Diversity</a:t>
            </a:r>
          </a:p>
          <a:p>
            <a:r>
              <a:rPr lang="en-US" dirty="0" smtClean="0"/>
              <a:t>Multinational organizations → cultural diversity </a:t>
            </a:r>
          </a:p>
          <a:p>
            <a:r>
              <a:rPr lang="en-US" dirty="0" smtClean="0"/>
              <a:t>Need for inclusive policies and international labor standards </a:t>
            </a:r>
          </a:p>
          <a:p>
            <a:r>
              <a:rPr lang="en-US" dirty="0" smtClean="0"/>
              <a:t>Workforce across countries → legal compliance in each jurisdiction </a:t>
            </a:r>
          </a:p>
          <a:p>
            <a:r>
              <a:rPr lang="en-US" dirty="0" smtClean="0"/>
              <a:t>Example: Microsoft employs staff globally → follows both local and international labor laws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593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Employee Engagement Strategies</a:t>
            </a:r>
          </a:p>
          <a:p>
            <a:r>
              <a:rPr lang="en-US" dirty="0" smtClean="0"/>
              <a:t>Training and development programs </a:t>
            </a:r>
          </a:p>
          <a:p>
            <a:r>
              <a:rPr lang="en-US" dirty="0" smtClean="0"/>
              <a:t>Incentive schemes and rewards </a:t>
            </a:r>
          </a:p>
          <a:p>
            <a:r>
              <a:rPr lang="en-US" dirty="0" smtClean="0"/>
              <a:t>Work-life balance policies </a:t>
            </a:r>
          </a:p>
          <a:p>
            <a:r>
              <a:rPr lang="en-US" dirty="0" smtClean="0"/>
              <a:t>Continuous feedback and performance reviews </a:t>
            </a:r>
          </a:p>
          <a:p>
            <a:r>
              <a:rPr lang="en-US" dirty="0" smtClean="0"/>
              <a:t>Example: Google allows flexible hours, free meals, and skill workshops → improves productivity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091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Challenges in Employee Relations</a:t>
            </a:r>
          </a:p>
          <a:p>
            <a:r>
              <a:rPr lang="en-US" dirty="0" smtClean="0"/>
              <a:t>Ensuring compliance with labor laws </a:t>
            </a:r>
          </a:p>
          <a:p>
            <a:r>
              <a:rPr lang="en-US" dirty="0" smtClean="0"/>
              <a:t>Managing remote or hybrid teams </a:t>
            </a:r>
          </a:p>
          <a:p>
            <a:r>
              <a:rPr lang="en-US" dirty="0" smtClean="0"/>
              <a:t>Workplace conflicts &amp; disputes </a:t>
            </a:r>
          </a:p>
          <a:p>
            <a:r>
              <a:rPr lang="en-US" dirty="0" smtClean="0"/>
              <a:t>Adapting to technological changes and AI </a:t>
            </a:r>
          </a:p>
          <a:p>
            <a:r>
              <a:rPr lang="en-US" dirty="0" smtClean="0"/>
              <a:t>Example: Employee resistance to AI monitoring in some IT companies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79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Future Trends in Employee Relations</a:t>
            </a:r>
          </a:p>
          <a:p>
            <a:r>
              <a:rPr lang="en-US" dirty="0" smtClean="0"/>
              <a:t>AI and automation in HR management </a:t>
            </a:r>
          </a:p>
          <a:p>
            <a:r>
              <a:rPr lang="en-US" dirty="0" smtClean="0"/>
              <a:t>Gig economy &amp; contract-based work </a:t>
            </a:r>
          </a:p>
          <a:p>
            <a:r>
              <a:rPr lang="en-US" dirty="0" smtClean="0"/>
              <a:t>Focus on mental health &amp; wellness programs </a:t>
            </a:r>
          </a:p>
          <a:p>
            <a:r>
              <a:rPr lang="en-US" dirty="0" smtClean="0"/>
              <a:t>Flexible and hybrid work models </a:t>
            </a:r>
          </a:p>
          <a:p>
            <a:r>
              <a:rPr lang="en-US" dirty="0" smtClean="0"/>
              <a:t>Real-life: Companies offering </a:t>
            </a:r>
            <a:r>
              <a:rPr lang="en-US" b="1" dirty="0" smtClean="0"/>
              <a:t>employee wellness programs</a:t>
            </a:r>
            <a:r>
              <a:rPr lang="en-US" dirty="0" smtClean="0"/>
              <a:t> to reduce burnout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715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Case Study Example</a:t>
            </a:r>
          </a:p>
          <a:p>
            <a:r>
              <a:rPr lang="en-US" b="1" dirty="0" smtClean="0"/>
              <a:t>Company:</a:t>
            </a:r>
            <a:r>
              <a:rPr lang="en-US" dirty="0" smtClean="0"/>
              <a:t> Software Company (Karachi)</a:t>
            </a:r>
          </a:p>
          <a:p>
            <a:r>
              <a:rPr lang="en-US" dirty="0" smtClean="0"/>
              <a:t>Introduced remote work policy → improved employee satisfaction </a:t>
            </a:r>
          </a:p>
          <a:p>
            <a:r>
              <a:rPr lang="en-US" dirty="0" smtClean="0"/>
              <a:t>Implemented HR automation system → reduced manual errors </a:t>
            </a:r>
          </a:p>
          <a:p>
            <a:r>
              <a:rPr lang="en-US" dirty="0" smtClean="0"/>
              <a:t>Challenges: Monitoring performance, team coordination </a:t>
            </a:r>
          </a:p>
          <a:p>
            <a:r>
              <a:rPr lang="en-US" dirty="0" smtClean="0"/>
              <a:t>Outcome: Increased productivity and retention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4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Importance for Organizations</a:t>
            </a:r>
          </a:p>
          <a:p>
            <a:r>
              <a:rPr lang="en-US" dirty="0" smtClean="0"/>
              <a:t>Improves overall productivity and efficiency </a:t>
            </a:r>
          </a:p>
          <a:p>
            <a:r>
              <a:rPr lang="en-US" dirty="0" smtClean="0"/>
              <a:t>Reduces risk of legal penalties and disputes </a:t>
            </a:r>
          </a:p>
          <a:p>
            <a:r>
              <a:rPr lang="en-US" dirty="0" smtClean="0"/>
              <a:t>Builds a </a:t>
            </a:r>
            <a:r>
              <a:rPr lang="en-US" b="1" dirty="0" smtClean="0"/>
              <a:t>positive and ethical workplace culture</a:t>
            </a:r>
            <a:r>
              <a:rPr lang="en-US" dirty="0" smtClean="0"/>
              <a:t> </a:t>
            </a:r>
          </a:p>
          <a:p>
            <a:r>
              <a:rPr lang="en-US" dirty="0" smtClean="0"/>
              <a:t>Enhances employee retention and loyalty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64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</a:p>
          <a:p>
            <a:r>
              <a:rPr lang="en-US" dirty="0" smtClean="0"/>
              <a:t>Employee relations law = foundation of fair workplace </a:t>
            </a:r>
          </a:p>
          <a:p>
            <a:r>
              <a:rPr lang="en-US" dirty="0" smtClean="0"/>
              <a:t>Modern management practices = more flexible, engaging, and tech-driven </a:t>
            </a:r>
          </a:p>
          <a:p>
            <a:r>
              <a:rPr lang="en-US" dirty="0" smtClean="0"/>
              <a:t>Organizations must adapt to laws, technology, and globalization </a:t>
            </a:r>
          </a:p>
          <a:p>
            <a:r>
              <a:rPr lang="en-US" dirty="0" smtClean="0"/>
              <a:t>Strong employee relations → long-term business success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067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46" y="333319"/>
            <a:ext cx="10704765" cy="6003590"/>
          </a:xfrm>
        </p:spPr>
      </p:pic>
    </p:spTree>
    <p:extLst>
      <p:ext uri="{BB962C8B-B14F-4D97-AF65-F5344CB8AC3E}">
        <p14:creationId xmlns:p14="http://schemas.microsoft.com/office/powerpoint/2010/main" val="4852898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</TotalTime>
  <Words>931</Words>
  <Application>Microsoft Office PowerPoint</Application>
  <PresentationFormat>Widescreen</PresentationFormat>
  <Paragraphs>173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Century Gothic</vt:lpstr>
      <vt:lpstr>Wingdings 3</vt:lpstr>
      <vt:lpstr>Wisp</vt:lpstr>
      <vt:lpstr>PROFESSIONAL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Labor Laws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SHAZIL</dc:creator>
  <cp:lastModifiedBy>SHAZIL</cp:lastModifiedBy>
  <cp:revision>3</cp:revision>
  <dcterms:created xsi:type="dcterms:W3CDTF">2026-04-01T05:18:29Z</dcterms:created>
  <dcterms:modified xsi:type="dcterms:W3CDTF">2026-04-01T05:27:40Z</dcterms:modified>
</cp:coreProperties>
</file>